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15.svg" ContentType="image/svg+xml"/>
  <Override PartName="/ppt/media/image17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7.svg" ContentType="image/svg+xml"/>
  <Override PartName="/ppt/media/image40.svg" ContentType="image/svg+xml"/>
  <Override PartName="/ppt/media/image43.svg" ContentType="image/svg+xml"/>
  <Override PartName="/ppt/media/image46.svg" ContentType="image/svg+xml"/>
  <Override PartName="/ppt/media/image48.svg" ContentType="image/svg+xml"/>
  <Override PartName="/ppt/media/image5.svg" ContentType="image/svg+xml"/>
  <Override PartName="/ppt/media/image50.svg" ContentType="image/svg+xml"/>
  <Override PartName="/ppt/media/image52.svg" ContentType="image/svg+xml"/>
  <Override PartName="/ppt/media/image60.svg" ContentType="image/svg+xml"/>
  <Override PartName="/ppt/media/image62.svg" ContentType="image/svg+xml"/>
  <Override PartName="/ppt/media/image64.svg" ContentType="image/svg+xml"/>
  <Override PartName="/ppt/media/image66.svg" ContentType="image/svg+xml"/>
  <Override PartName="/ppt/media/image68.svg" ContentType="image/svg+xml"/>
  <Override PartName="/ppt/media/image7.svg" ContentType="image/svg+xml"/>
  <Override PartName="/ppt/media/image70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80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</p:sldMasterIdLst>
  <p:notesMasterIdLst>
    <p:notesMasterId r:id="rId5"/>
  </p:notesMasterIdLst>
  <p:handoutMasterIdLst>
    <p:handoutMasterId r:id="rId20"/>
  </p:handoutMasterIdLst>
  <p:sldIdLst>
    <p:sldId id="256" r:id="rId4"/>
    <p:sldId id="259" r:id="rId6"/>
    <p:sldId id="260" r:id="rId7"/>
    <p:sldId id="262" r:id="rId8"/>
    <p:sldId id="263" r:id="rId9"/>
    <p:sldId id="265" r:id="rId10"/>
    <p:sldId id="266" r:id="rId11"/>
    <p:sldId id="267" r:id="rId12"/>
    <p:sldId id="269" r:id="rId13"/>
    <p:sldId id="270" r:id="rId14"/>
    <p:sldId id="272" r:id="rId15"/>
    <p:sldId id="273" r:id="rId16"/>
    <p:sldId id="275" r:id="rId17"/>
    <p:sldId id="276" r:id="rId18"/>
    <p:sldId id="277" r:id="rId1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handoutMaster" Target="handoutMasters/handoutMaster1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大家好，今天我将为大家介绍我们团队研发的“意图驱动检索工作流决策系统”。在这个信息爆炸的时代，如何从海量数据中精准、高效地获取知识，并辅助决策，是企业面临的共同挑战。我们的系统正是为解决这一核心问题而生。接下来，我将从项目背景、核心概念、技术架构、工作流程、应用场景以及未来展望几个方面，为大家进行详细解析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正处在一个信息爆炸的时代，数据量呈指数级增长。然而，传统的关键词检索技术却显得力不从心。它只能进行简单的字符串匹配，无法真正理解用户的意图，常常导致“答非所问”。同时，返回的结果往往海量且冗余，用户需要在信息的海洋中艰难筛选。更重要的是，它缺乏记忆和上下文理解能力，无法提供连贯、个性化的服务。这些痛点，正是我们系统要解决的问题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面对这些挑战，企业对新一代检索系统提出了更高的要求。核心需求可以概括为四点：首先，能够精准理解用户的真实意图；其次，要能高效地从各种数据源中获取知识；第三，系统需要具备智能决策支持的能力，不仅仅是信息的搬运工；最后，系统必须足够灵活，能够与现有的业务流程无缝集成。我们的“意图驱动检索工作流决策系统”正是为满足这些核心需求而设计的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那么，什么是意图驱动检索？简单来说，它与传统的关键词检索有着本质的区别。传统检索是“用户说什么，我就搜什么”，是一种基于字符串的被动匹配。而意图驱动检索则是“用户想要什么，我就找什么”，它利用先进的自然语言处理技术，主动去理解用户需求背后的真实意图。这是从“看山是山”到“看山不是山”的认知飞跃，是实现真正智能检索的关键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如果说意图驱动检索是系统的“眼睛”和“耳朵”，那么工作流决策系统就是它的“大脑”和“指挥中心”。它的核心作用是接收来自意图理解层的“情报”，然后进行分析和决策：判断应该调用哪些工具、走哪些流程、采用哪种策略来处理用户的请求。它能将复杂的任务拆解、编排，并最终整合所有结果，形成统一的输出。这个“大脑”的智慧，决定了整个系统的灵活性和强大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是我们系统的整体技术架构图。它是一个清晰的分层架构，保证了各模块的低耦合和高内聚。最底层是数据层，汇聚了企业的所有数据。之上是检索引擎层，提供了强大的多模态检索能力。中间是智能路由与工作流层，也就是我们的“大脑”。再往上是意图理解层，负责感知用户需求。最顶层是应用层，直接与用户或其他系统交互。这种架构设计使得系统具备了良好的扩展性和可维护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意图理解层是系统的“灵魂”所在，其核心技术主要包括三个方面。首先是大语言模型，我们利用像GPT这样的强大模型作为基础，并针对特定业务场景进行微调，使其成为我们专属的“语义理解专家”。其次是查询重写技术，它能像一位翻译官，将用户不标准的自然语言，转化为精准的机器指令。最后是上下文感知能力，这让系统拥有了“记忆”，能够理解对话的来龙去脉，提供连贯的服务。这三者结合，构成了强大的意图理解能力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智能路由与多策略融合是系统的“智慧”体现。它不是简单地使用一种检索方法，而是一个“策略大师”。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首先，它会建立意图和策略之间的映射关系。然后，针对一个复杂的查询，它可以并行调用多种检索器，比如同时进行向量搜索和图搜索。</a:t>
            </a:r>
            <a:endParaRPr lang="en-US" sz="1400" b="0" i="0" u="none" strike="noStrike">
              <a:solidFill>
                <a:srgbClr val="000000"/>
              </a:solidFill>
            </a:endParaRPr>
          </a:p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最后，它会像一位经验丰富的指挥官，对各路返回的“情报”进行分析、融合和排序，并根据结果质量动态调整策略。这种机制确保了我们总能从最合适的地方找到最准确的信息。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张图展示了用户从提问到获得答案的完整流程。首先，用户输入一个自然语言问题。然后，系统进行意图识别，理解用户的真实需求。接着，智能路由模块根据意图选择合适的工具和数据源。之后，系统执行具体的信息检索操作。检索到结果后，会进行融合和排序。然后，大模型会基于这些结果生成最终的自然语言回答。最后，将答案反馈给用户。整个过程一气呵成，对用户来说是无缝的智能体验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整个流程中，意图识别和智能路由是两个最关键的步骤。我们来看一个具体的例子。当学生问“老师，请问辛亥革命爆发的具体时间和历史背景是什么？”时，意图识别模块会判断出这是一个“知识问答”请求，并提取出关键信息。随后，智能路由模块会根据这个意图，调用历史知识库的检索引擎，去查找相关的知识条目。这两步的精准度，直接决定了后续所有操作的方向和结果的质量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们的系统具有广泛的应用前景。在智能客服领域，它可以成为不知疲倦的AI助手；在企业决策层面，它是管理层的“数据智囊”；在研发和技术支持场景，它能帮助工程师们“站在巨人的肩膀上”，快速解决问题；在营销和推荐领域，它则能实现“千人千面”的个性化体验。这些场景都能充分发挥系统在意图理解和智能检索方面的优势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些应用场景最终会转化为实实在在的商业价值。首先是效率的巨大提升，无论是客服还是员工，都能从系统中获得高效的支持。其次是成本的显著降低，特别是在人力成本方面。更重要的是，系统能提升决策的质量，让数据真正驱动业务增长。最后，所有这些都会归结为更好的用户体验，无论是客户还是内部员工，都能感受到智能系统带来的便利。这些价值的实现，正是我们项目的最终目标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总结一下，我们的项目成功打造了一个以意图理解为核心的智能检索决策系统。它的核心优势在于精准、灵活和强大的策略融合能力。通过在实际场景中的试点，我们已经证明了系统能够带来实实在在的业务价值。这些成果的背后，是整个团队在技术和工程上的共同努力和创新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展望未来，我们的系统还有广阔的发展空间。我们计划拓展多模态理解能力，让交互更加自然。我们将引入强化学习，让系统能够持续自我优化和进化。我们还会与行业大模型结合，深耕垂直领域。同时，我们也会积极探索在隐私保护的前提下，如何实现更大范围的知识共享。我们相信，通过持续的创新，这个系统将变得越来越智能，为企业创造更大的价值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我的介绍到此结束，感谢大家的聆听。接下来是问答环节，欢迎大家提问交流。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2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/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/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2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2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2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8" name="Shape 3"/>
          <p:cNvSpPr txBox="1"/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9" name="Shape 4"/>
          <p:cNvSpPr txBox="1"/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/>
        </p:txBody>
      </p:sp>
      <p:sp>
        <p:nvSpPr>
          <p:cNvPr id="10" name="Shape 5"/>
          <p:cNvSpPr txBox="1"/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svg"/><Relationship Id="rId8" Type="http://schemas.openxmlformats.org/officeDocument/2006/relationships/image" Target="../media/image6.png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tags" Target="../tags/tag2.xml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tags" Target="../tags/tag1.xml"/><Relationship Id="rId18" Type="http://schemas.openxmlformats.org/officeDocument/2006/relationships/notesSlide" Target="../notesSlides/notesSlide2.xml"/><Relationship Id="rId17" Type="http://schemas.openxmlformats.org/officeDocument/2006/relationships/slideLayout" Target="../slideLayouts/slideLayout12.xml"/><Relationship Id="rId16" Type="http://schemas.openxmlformats.org/officeDocument/2006/relationships/tags" Target="../tags/tag9.xml"/><Relationship Id="rId15" Type="http://schemas.openxmlformats.org/officeDocument/2006/relationships/tags" Target="../tags/tag8.xml"/><Relationship Id="rId14" Type="http://schemas.openxmlformats.org/officeDocument/2006/relationships/image" Target="../media/image9.svg"/><Relationship Id="rId13" Type="http://schemas.openxmlformats.org/officeDocument/2006/relationships/image" Target="../media/image8.png"/><Relationship Id="rId12" Type="http://schemas.openxmlformats.org/officeDocument/2006/relationships/tags" Target="../tags/tag7.xml"/><Relationship Id="rId11" Type="http://schemas.openxmlformats.org/officeDocument/2006/relationships/tags" Target="../tags/tag6.xml"/><Relationship Id="rId10" Type="http://schemas.openxmlformats.org/officeDocument/2006/relationships/tags" Target="../tags/tag5.xml"/><Relationship Id="rId1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15.svg"/><Relationship Id="rId7" Type="http://schemas.openxmlformats.org/officeDocument/2006/relationships/image" Target="../media/image14.png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5.svg"/><Relationship Id="rId3" Type="http://schemas.openxmlformats.org/officeDocument/2006/relationships/image" Target="../media/image4.png"/><Relationship Id="rId2" Type="http://schemas.openxmlformats.org/officeDocument/2006/relationships/image" Target="../media/image11.sv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18.jpeg"/><Relationship Id="rId4" Type="http://schemas.openxmlformats.org/officeDocument/2006/relationships/image" Target="../media/image11.svg"/><Relationship Id="rId3" Type="http://schemas.openxmlformats.org/officeDocument/2006/relationships/image" Target="../media/image10.png"/><Relationship Id="rId2" Type="http://schemas.openxmlformats.org/officeDocument/2006/relationships/image" Target="../media/image17.svg"/><Relationship Id="rId1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5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25.svg"/><Relationship Id="rId6" Type="http://schemas.openxmlformats.org/officeDocument/2006/relationships/image" Target="../media/image24.png"/><Relationship Id="rId5" Type="http://schemas.openxmlformats.org/officeDocument/2006/relationships/image" Target="../media/image23.svg"/><Relationship Id="rId4" Type="http://schemas.openxmlformats.org/officeDocument/2006/relationships/image" Target="../media/image22.png"/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image" Target="../media/image19.jpe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5.svg"/><Relationship Id="rId8" Type="http://schemas.openxmlformats.org/officeDocument/2006/relationships/image" Target="../media/image4.png"/><Relationship Id="rId7" Type="http://schemas.openxmlformats.org/officeDocument/2006/relationships/image" Target="../media/image21.svg"/><Relationship Id="rId6" Type="http://schemas.openxmlformats.org/officeDocument/2006/relationships/image" Target="../media/image20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3" Type="http://schemas.openxmlformats.org/officeDocument/2006/relationships/notesSlide" Target="../notesSlides/notesSlide6.xml"/><Relationship Id="rId12" Type="http://schemas.openxmlformats.org/officeDocument/2006/relationships/slideLayout" Target="../slideLayouts/slideLayout12.xml"/><Relationship Id="rId11" Type="http://schemas.openxmlformats.org/officeDocument/2006/relationships/image" Target="../media/image30.svg"/><Relationship Id="rId10" Type="http://schemas.openxmlformats.org/officeDocument/2006/relationships/image" Target="../media/image29.png"/><Relationship Id="rId1" Type="http://schemas.openxmlformats.org/officeDocument/2006/relationships/image" Target="../media/image26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7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9.svg"/><Relationship Id="rId6" Type="http://schemas.openxmlformats.org/officeDocument/2006/relationships/image" Target="../media/image35.png"/><Relationship Id="rId5" Type="http://schemas.openxmlformats.org/officeDocument/2006/relationships/image" Target="../media/image34.svg"/><Relationship Id="rId4" Type="http://schemas.openxmlformats.org/officeDocument/2006/relationships/image" Target="../media/image33.png"/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8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41.jpeg"/><Relationship Id="rId6" Type="http://schemas.openxmlformats.org/officeDocument/2006/relationships/image" Target="../media/image40.svg"/><Relationship Id="rId5" Type="http://schemas.openxmlformats.org/officeDocument/2006/relationships/image" Target="../media/image39.png"/><Relationship Id="rId4" Type="http://schemas.openxmlformats.org/officeDocument/2006/relationships/image" Target="../media/image21.svg"/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47.png"/><Relationship Id="rId8" Type="http://schemas.openxmlformats.org/officeDocument/2006/relationships/image" Target="../media/image46.svg"/><Relationship Id="rId7" Type="http://schemas.openxmlformats.org/officeDocument/2006/relationships/image" Target="../media/image45.png"/><Relationship Id="rId6" Type="http://schemas.openxmlformats.org/officeDocument/2006/relationships/image" Target="../media/image21.svg"/><Relationship Id="rId5" Type="http://schemas.openxmlformats.org/officeDocument/2006/relationships/image" Target="../media/image38.png"/><Relationship Id="rId4" Type="http://schemas.openxmlformats.org/officeDocument/2006/relationships/image" Target="../media/image11.svg"/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7" Type="http://schemas.openxmlformats.org/officeDocument/2006/relationships/notesSlide" Target="../notesSlides/notesSlide9.xml"/><Relationship Id="rId16" Type="http://schemas.openxmlformats.org/officeDocument/2006/relationships/slideLayout" Target="../slideLayouts/slideLayout12.xml"/><Relationship Id="rId15" Type="http://schemas.openxmlformats.org/officeDocument/2006/relationships/image" Target="../media/image53.jpeg"/><Relationship Id="rId14" Type="http://schemas.openxmlformats.org/officeDocument/2006/relationships/image" Target="../media/image52.svg"/><Relationship Id="rId13" Type="http://schemas.openxmlformats.org/officeDocument/2006/relationships/image" Target="../media/image51.png"/><Relationship Id="rId12" Type="http://schemas.openxmlformats.org/officeDocument/2006/relationships/image" Target="../media/image50.svg"/><Relationship Id="rId11" Type="http://schemas.openxmlformats.org/officeDocument/2006/relationships/image" Target="../media/image49.png"/><Relationship Id="rId10" Type="http://schemas.openxmlformats.org/officeDocument/2006/relationships/image" Target="../media/image48.svg"/><Relationship Id="rId1" Type="http://schemas.openxmlformats.org/officeDocument/2006/relationships/image" Target="../media/image42.png"/></Relationships>
</file>

<file path=ppt/slides/_rels/slide10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12.xml"/><Relationship Id="rId5" Type="http://schemas.openxmlformats.org/officeDocument/2006/relationships/image" Target="../media/image54.jpeg"/><Relationship Id="rId4" Type="http://schemas.openxmlformats.org/officeDocument/2006/relationships/image" Target="../media/image21.svg"/><Relationship Id="rId3" Type="http://schemas.openxmlformats.org/officeDocument/2006/relationships/image" Target="../media/image38.png"/><Relationship Id="rId2" Type="http://schemas.openxmlformats.org/officeDocument/2006/relationships/image" Target="../media/image11.svg"/><Relationship Id="rId1" Type="http://schemas.openxmlformats.org/officeDocument/2006/relationships/image" Target="../media/image44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2.xml"/><Relationship Id="rId4" Type="http://schemas.openxmlformats.org/officeDocument/2006/relationships/image" Target="../media/image58.jpeg"/><Relationship Id="rId3" Type="http://schemas.openxmlformats.org/officeDocument/2006/relationships/image" Target="../media/image57.jpeg"/><Relationship Id="rId2" Type="http://schemas.openxmlformats.org/officeDocument/2006/relationships/image" Target="../media/image56.jpeg"/><Relationship Id="rId1" Type="http://schemas.openxmlformats.org/officeDocument/2006/relationships/image" Target="../media/image55.jpe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.xml"/><Relationship Id="rId8" Type="http://schemas.openxmlformats.org/officeDocument/2006/relationships/image" Target="../media/image66.svg"/><Relationship Id="rId7" Type="http://schemas.openxmlformats.org/officeDocument/2006/relationships/image" Target="../media/image65.png"/><Relationship Id="rId6" Type="http://schemas.openxmlformats.org/officeDocument/2006/relationships/image" Target="../media/image64.svg"/><Relationship Id="rId5" Type="http://schemas.openxmlformats.org/officeDocument/2006/relationships/image" Target="../media/image63.png"/><Relationship Id="rId4" Type="http://schemas.openxmlformats.org/officeDocument/2006/relationships/image" Target="../media/image62.svg"/><Relationship Id="rId3" Type="http://schemas.openxmlformats.org/officeDocument/2006/relationships/image" Target="../media/image61.png"/><Relationship Id="rId2" Type="http://schemas.openxmlformats.org/officeDocument/2006/relationships/image" Target="../media/image60.svg"/><Relationship Id="rId10" Type="http://schemas.openxmlformats.org/officeDocument/2006/relationships/notesSlide" Target="../notesSlides/notesSlide12.xml"/><Relationship Id="rId1" Type="http://schemas.openxmlformats.org/officeDocument/2006/relationships/image" Target="../media/image5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3.xml"/><Relationship Id="rId8" Type="http://schemas.openxmlformats.org/officeDocument/2006/relationships/slideLayout" Target="../slideLayouts/slideLayout12.xml"/><Relationship Id="rId7" Type="http://schemas.openxmlformats.org/officeDocument/2006/relationships/image" Target="../media/image71.jpeg"/><Relationship Id="rId6" Type="http://schemas.openxmlformats.org/officeDocument/2006/relationships/image" Target="../media/image70.svg"/><Relationship Id="rId5" Type="http://schemas.openxmlformats.org/officeDocument/2006/relationships/image" Target="../media/image69.png"/><Relationship Id="rId4" Type="http://schemas.openxmlformats.org/officeDocument/2006/relationships/image" Target="../media/image68.svg"/><Relationship Id="rId3" Type="http://schemas.openxmlformats.org/officeDocument/2006/relationships/image" Target="../media/image67.png"/><Relationship Id="rId2" Type="http://schemas.openxmlformats.org/officeDocument/2006/relationships/image" Target="../media/image32.svg"/><Relationship Id="rId1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8.jpeg"/><Relationship Id="rId8" Type="http://schemas.openxmlformats.org/officeDocument/2006/relationships/image" Target="../media/image77.svg"/><Relationship Id="rId7" Type="http://schemas.openxmlformats.org/officeDocument/2006/relationships/image" Target="../media/image76.png"/><Relationship Id="rId6" Type="http://schemas.openxmlformats.org/officeDocument/2006/relationships/image" Target="../media/image75.svg"/><Relationship Id="rId5" Type="http://schemas.openxmlformats.org/officeDocument/2006/relationships/image" Target="../media/image74.png"/><Relationship Id="rId4" Type="http://schemas.openxmlformats.org/officeDocument/2006/relationships/image" Target="../media/image11.svg"/><Relationship Id="rId3" Type="http://schemas.openxmlformats.org/officeDocument/2006/relationships/image" Target="../media/image44.png"/><Relationship Id="rId2" Type="http://schemas.openxmlformats.org/officeDocument/2006/relationships/image" Target="../media/image73.svg"/><Relationship Id="rId11" Type="http://schemas.openxmlformats.org/officeDocument/2006/relationships/notesSlide" Target="../notesSlides/notesSlide14.xml"/><Relationship Id="rId10" Type="http://schemas.openxmlformats.org/officeDocument/2006/relationships/slideLayout" Target="../slideLayouts/slideLayout12.xml"/><Relationship Id="rId1" Type="http://schemas.openxmlformats.org/officeDocument/2006/relationships/image" Target="../media/image72.png"/></Relationships>
</file>

<file path=ppt/slides/_rels/slide1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5.xml"/><Relationship Id="rId6" Type="http://schemas.openxmlformats.org/officeDocument/2006/relationships/slideLayout" Target="../slideLayouts/slideLayout12.xml"/><Relationship Id="rId5" Type="http://schemas.openxmlformats.org/officeDocument/2006/relationships/hyperlink" Target="https://github.com/XXYoLoong" TargetMode="External"/><Relationship Id="rId4" Type="http://schemas.openxmlformats.org/officeDocument/2006/relationships/image" Target="../media/image80.svg"/><Relationship Id="rId3" Type="http://schemas.openxmlformats.org/officeDocument/2006/relationships/image" Target="../media/image79.pn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635000" y="2286000"/>
            <a:ext cx="1092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意图驱动检索工作流决策系统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4376">
            <a:off x="5461032" y="3422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FF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1016000" y="3683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技术架构与应用解析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2286000" y="5842000"/>
            <a:ext cx="762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汇报人：倪家诚 | 2026年2月6日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信息爆炸与传统检索的困境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l="10851" r="10851"/>
          <a:stretch>
            <a:fillRect/>
          </a:stretch>
        </p:blipFill>
        <p:spPr>
          <a:xfrm>
            <a:off x="762000" y="1651000"/>
            <a:ext cx="5080000" cy="4318000"/>
          </a:xfrm>
          <a:prstGeom prst="roundRect">
            <a:avLst>
              <a:gd name="adj" fmla="val 2941"/>
            </a:avLst>
          </a:prstGeom>
          <a:noFill/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</p:pic>
      <p:pic>
        <p:nvPicPr>
          <p:cNvPr id="4" name="Picture 4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23000" y="17018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>
            <p:custDataLst>
              <p:tags r:id="rId5"/>
            </p:custDataLst>
          </p:nvPr>
        </p:nvSpPr>
        <p:spPr>
          <a:xfrm>
            <a:off x="6731000" y="1651000"/>
            <a:ext cx="4699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关键词匹配的局限性</a:t>
            </a:r>
            <a:endParaRPr lang="en-US" sz="1100"/>
          </a:p>
        </p:txBody>
      </p:sp>
      <p:sp>
        <p:nvSpPr>
          <p:cNvPr id="6" name="AutoShape 6"/>
          <p:cNvSpPr/>
          <p:nvPr>
            <p:custDataLst>
              <p:tags r:id="rId6"/>
            </p:custDataLst>
          </p:nvPr>
        </p:nvSpPr>
        <p:spPr>
          <a:xfrm>
            <a:off x="6731000" y="20828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仅能进行字符串匹配，无法理解用户真实意图。例如搜索“苹果”时，系统难以区分是水果还是电子产品，导致词不达意。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23000" y="29718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>
            <p:custDataLst>
              <p:tags r:id="rId10"/>
            </p:custDataLst>
          </p:nvPr>
        </p:nvSpPr>
        <p:spPr>
          <a:xfrm>
            <a:off x="6731000" y="2921000"/>
            <a:ext cx="4699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结果过载与信息噪音</a:t>
            </a:r>
            <a:endParaRPr lang="en-US" sz="1100"/>
          </a:p>
        </p:txBody>
      </p:sp>
      <p:sp>
        <p:nvSpPr>
          <p:cNvPr id="9" name="AutoShape 9"/>
          <p:cNvSpPr/>
          <p:nvPr>
            <p:custDataLst>
              <p:tags r:id="rId11"/>
            </p:custDataLst>
          </p:nvPr>
        </p:nvSpPr>
        <p:spPr>
          <a:xfrm>
            <a:off x="6731000" y="33528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返回大量冗余信息，用户需耗费大量时间筛选。统计显示用户通常只查看前几页结果，海量有价值信息因此被埋没。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223000" y="42418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>
            <p:custDataLst>
              <p:tags r:id="rId15"/>
            </p:custDataLst>
          </p:nvPr>
        </p:nvSpPr>
        <p:spPr>
          <a:xfrm>
            <a:off x="6731000" y="4191000"/>
            <a:ext cx="46990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缺乏上下文理解能力</a:t>
            </a:r>
            <a:endParaRPr lang="en-US" sz="1100"/>
          </a:p>
        </p:txBody>
      </p:sp>
      <p:sp>
        <p:nvSpPr>
          <p:cNvPr id="12" name="AutoShape 12"/>
          <p:cNvSpPr/>
          <p:nvPr>
            <p:custDataLst>
              <p:tags r:id="rId16"/>
            </p:custDataLst>
          </p:nvPr>
        </p:nvSpPr>
        <p:spPr>
          <a:xfrm>
            <a:off x="6731000" y="4622800"/>
            <a:ext cx="469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无法结合对话历史或用户画像提供个性化服务。每次交互都是孤立的，难以形成连贯、精准的服务体验。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应用的核心需求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500" y="1841500"/>
            <a:ext cx="508000" cy="5080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714500" y="1841500"/>
            <a:ext cx="400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精准理解意图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79500" y="23495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超越关键词，深度解析用户需求的真实目的，无论是简单的事实查询，还是复杂的分析请求。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23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40500" y="1841500"/>
            <a:ext cx="508000" cy="5080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7175500" y="1841500"/>
            <a:ext cx="400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高效知识获取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540500" y="23495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从海量、多源、异构数据中快速定位关键信息，打破信息孤岛，实现知识的统一检索。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06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79500" y="4381500"/>
            <a:ext cx="508000" cy="5080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714500" y="4381500"/>
            <a:ext cx="400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智能决策支持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79500" y="48895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不仅提供信息，更能基于信息辅助或自动化决策，将数据转化为真正的生产力。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406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40500" y="4381500"/>
            <a:ext cx="508000" cy="5080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7175500" y="4381500"/>
            <a:ext cx="40005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灵活工作流集成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540500" y="48895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能够无缝融入企业现有业务流程和系统，如CRM、ERP等，成为业务的“智能大脑”。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什么是意图驱动检索？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3340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B0B0B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780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752600"/>
            <a:ext cx="431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传统检索：被动匹配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046">
            <a:off x="1016008" y="22161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0B0B0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23495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“用户说什么，就搜什么”。基于字符串匹配，只能处理表面的文字信息，是一种机械的、被动的响应方式。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762000" y="3937000"/>
            <a:ext cx="5334000" cy="2159000"/>
          </a:xfrm>
          <a:prstGeom prst="roundRect">
            <a:avLst>
              <a:gd name="adj" fmla="val 5882"/>
            </a:avLst>
          </a:prstGeom>
          <a:solidFill>
            <a:srgbClr val="00FFFF">
              <a:alpha val="8000"/>
            </a:srgbClr>
          </a:solidFill>
          <a:ln w="12700" cap="flat" cmpd="sng">
            <a:solidFill>
              <a:srgbClr val="00FFFF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1910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524000" y="4165600"/>
            <a:ext cx="4318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意图驱动检索：主动理解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9046">
            <a:off x="1016008" y="4629150"/>
            <a:ext cx="4826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1016000" y="4762500"/>
            <a:ext cx="4826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“用户想要什么，就找什么”。基于语义理解和需求分析，能够洞察用户语言背后的真实需求和目的，实现智能响应。</a:t>
            </a:r>
            <a:endParaRPr lang="en-US" sz="1100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 t="5000" b="5000"/>
          <a:stretch>
            <a:fillRect/>
          </a:stretch>
        </p:blipFill>
        <p:spPr>
          <a:xfrm>
            <a:off x="6350000" y="1524000"/>
            <a:ext cx="5080000" cy="4572000"/>
          </a:xfrm>
          <a:prstGeom prst="roundRect">
            <a:avLst>
              <a:gd name="adj" fmla="val 2777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54000" dist="127000" dir="2700000" algn="t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工作流决策系统的角色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t="2777" b="2777"/>
          <a:stretch>
            <a:fillRect/>
          </a:stretch>
        </p:blipFill>
        <p:spPr>
          <a:xfrm>
            <a:off x="762000" y="1651000"/>
            <a:ext cx="4572000" cy="4318000"/>
          </a:xfrm>
          <a:prstGeom prst="roundRect">
            <a:avLst>
              <a:gd name="adj" fmla="val 4411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54000" dir="2700000" algn="tl" rotWithShape="0">
              <a:srgbClr val="00FFFF">
                <a:alpha val="20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2000" y="17145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6350000" y="16764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意图分类与路由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350000" y="20574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精准识别用户意图，将请求分发给最适合的下游模块，如知识库、工具API或分析引擎。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42000" y="2984500"/>
            <a:ext cx="406400" cy="4064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6350000" y="29464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任务编排与执行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6350000" y="33274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根据预设或动态逻辑，自动编排检索、分析与生成任务，确保业务流程的顺畅与高效执行。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42000" y="4254500"/>
            <a:ext cx="406400" cy="4064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6350000" y="42164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多策略融合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350000" y="4597400"/>
            <a:ext cx="5080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动态组合向量检索、图检索等多种策略，智能融合结果，以应对不同复杂度的查询需求。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整体技术架构</a:t>
            </a:r>
            <a:endParaRPr lang="en-US" sz="1100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1"/>
          <a:srcRect l="5555" r="5555"/>
          <a:stretch>
            <a:fillRect/>
          </a:stretch>
        </p:blipFill>
        <p:spPr>
          <a:xfrm>
            <a:off x="762000" y="1651000"/>
            <a:ext cx="4064000" cy="4572000"/>
          </a:xfrm>
          <a:prstGeom prst="roundRect">
            <a:avLst>
              <a:gd name="adj" fmla="val 3125"/>
            </a:avLst>
          </a:prstGeom>
          <a:noFill/>
          <a:ln w="25400" cap="flat" cmpd="sng">
            <a:noFill/>
            <a:prstDash val="solid"/>
            <a:round/>
          </a:ln>
          <a:effectLst>
            <a:outerShdw blurRad="254000" dir="2700000" algn="tl" rotWithShape="0">
              <a:srgbClr val="00FFFF">
                <a:alpha val="30000"/>
              </a:srgbClr>
            </a:outerShdw>
          </a:effectLst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07000" y="16510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5588000" y="1625600"/>
            <a:ext cx="584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应用层 Application Layer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5588000" y="19304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面向用户的交互接口，包括Web端、移动端应用及第三方API调用接口。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07000" y="24765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5588000" y="2451100"/>
            <a:ext cx="584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意图理解层 Intent Understanding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5588000" y="27559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系统的“感知器官”，利用大模型进行意图识别与查询重写，结合画像提供个性化服务。</a:t>
            </a:r>
            <a:endParaRPr lang="en-US" sz="1100"/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207000" y="33020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5588000" y="3276600"/>
            <a:ext cx="584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智能路由与工作流层 Smart Routing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5588000" y="35814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系统的“大脑”，负责意图分发、任务编排及多策略融合，确保流程高效运转。</a:t>
            </a:r>
            <a:endParaRPr lang="en-US" sz="1100"/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07000" y="4127500"/>
            <a:ext cx="304800" cy="304800"/>
          </a:xfrm>
          <a:prstGeom prst="rect">
            <a:avLst/>
          </a:prstGeom>
        </p:spPr>
      </p:pic>
      <p:sp>
        <p:nvSpPr>
          <p:cNvPr id="14" name="AutoShape 14"/>
          <p:cNvSpPr/>
          <p:nvPr/>
        </p:nvSpPr>
        <p:spPr>
          <a:xfrm>
            <a:off x="5588000" y="4102100"/>
            <a:ext cx="584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检索引擎层 Retrieval Engine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588000" y="44069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集成向量数据库、知识图谱与全文检索，提供强大的多模态检索能力支持。</a:t>
            </a:r>
            <a:endParaRPr lang="en-US" sz="1100"/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07000" y="4953000"/>
            <a:ext cx="304800" cy="3048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5588000" y="4927600"/>
            <a:ext cx="5842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数据层 Data Layer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588000" y="5232400"/>
            <a:ext cx="584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汇聚企业结构化业务数据、非结构化文档知识库及外部各类数据源。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意图理解核心技术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3302000" cy="4445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89000" y="1778000"/>
            <a:ext cx="3048000" cy="1714500"/>
          </a:xfrm>
          <a:prstGeom prst="roundRect">
            <a:avLst>
              <a:gd name="adj" fmla="val 7407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000" y="3619500"/>
            <a:ext cx="304800" cy="3048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270000" y="3581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大语言模型 (LLM)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89000" y="4000500"/>
            <a:ext cx="304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基于GPT、Llama等模型微调，在特定领域精准理解意图与分类，是深层语义理解的基石，生成高质量回答。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4445000" y="1651000"/>
            <a:ext cx="3302000" cy="4445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4572000" y="1778000"/>
            <a:ext cx="3048000" cy="1714500"/>
          </a:xfrm>
          <a:prstGeom prst="roundRect">
            <a:avLst>
              <a:gd name="adj" fmla="val 7407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3619500"/>
            <a:ext cx="304800" cy="304800"/>
          </a:xfrm>
          <a:prstGeom prst="rect">
            <a:avLst/>
          </a:prstGeom>
        </p:spPr>
      </p:pic>
      <p:sp>
        <p:nvSpPr>
          <p:cNvPr id="11" name="AutoShape 11"/>
          <p:cNvSpPr/>
          <p:nvPr/>
        </p:nvSpPr>
        <p:spPr>
          <a:xfrm>
            <a:off x="4953000" y="3581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查询重写技术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4572000" y="4000500"/>
            <a:ext cx="304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利用同义扩展与HyDE技术，将模糊口语化输入转化为精准指令，大幅提升检索召回率与准确率。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128000" y="1651000"/>
            <a:ext cx="3302000" cy="4445000"/>
          </a:xfrm>
          <a:prstGeom prst="roundRect">
            <a:avLst>
              <a:gd name="adj" fmla="val 3846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8255000" y="1778000"/>
            <a:ext cx="3048000" cy="1714500"/>
          </a:xfrm>
          <a:prstGeom prst="roundRect">
            <a:avLst>
              <a:gd name="adj" fmla="val 7407"/>
            </a:avLst>
          </a:prstGeom>
          <a:noFill/>
          <a:ln w="25400" cap="flat" cmpd="sng">
            <a:noFill/>
            <a:prstDash val="solid"/>
            <a:round/>
          </a:ln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55000" y="3619500"/>
            <a:ext cx="304800" cy="304800"/>
          </a:xfrm>
          <a:prstGeom prst="rect">
            <a:avLst/>
          </a:prstGeom>
        </p:spPr>
      </p:pic>
      <p:sp>
        <p:nvSpPr>
          <p:cNvPr id="16" name="AutoShape 16"/>
          <p:cNvSpPr/>
          <p:nvPr/>
        </p:nvSpPr>
        <p:spPr>
          <a:xfrm>
            <a:off x="8636000" y="3581400"/>
            <a:ext cx="2667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上下文感知能力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8255000" y="4000500"/>
            <a:ext cx="304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结合多轮对话历史与用户画像，动态调整意图理解，提供个性化、连贯的智能服务体验。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智能路由与多策略融合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145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24000" y="1676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意图-策略映射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0955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内置丰富策略库，基于意图类型（事实/分析/指令）和业务规则，自动匹配合适的检索策略组合。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1115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302000"/>
            <a:ext cx="406400" cy="4064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524000" y="32639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多检索器并行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6830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并行调用向量、关键词、图检索等引擎，利用RRF算法重排融合结果，兼顾召回率与精准度。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699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889500"/>
            <a:ext cx="406400" cy="4064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524000" y="4851400"/>
            <a:ext cx="4064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动态决策与优化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2705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持续评估结果质量与置信度，不理想时自动触发二次检索，动态调整策略，形成闭环优化。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/>
          <a:srcRect t="6097" b="6097"/>
          <a:stretch>
            <a:fillRect/>
          </a:stretch>
        </p:blipFill>
        <p:spPr>
          <a:xfrm>
            <a:off x="6223000" y="1524000"/>
            <a:ext cx="5207000" cy="4572000"/>
          </a:xfrm>
          <a:prstGeom prst="roundRect">
            <a:avLst>
              <a:gd name="adj" fmla="val 2777"/>
            </a:avLst>
          </a:prstGeom>
          <a:noFill/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  <a:effectLst>
            <a:outerShdw blurRad="254000" dir="2700000" algn="tl" rotWithShape="0">
              <a:srgbClr val="00FFFF">
                <a:alpha val="1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一次完整的交互流程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651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841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803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用户输入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952500" y="2222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用户通过自然语言界面提出问题，例如查询销售数据或区域表现。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3492500" y="1651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83000" y="1841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4127500" y="1803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意图识别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683000" y="2222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系统解析用户意图，提取关键信息如时间、数据类型和具体指标。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23000" y="1651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13500" y="1841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6858000" y="1803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03 智能路由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6413500" y="2222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根据识别的意图，决定调用的工具（如SQL）并路由至相应的业务数据库。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8953500" y="1651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144000" y="1841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9588500" y="1803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04 信息检索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9144000" y="2222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执行具体的查询操作，从数据库中精准提取所需的原始数据。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62000" y="4064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0" name="Picture 2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21" name="AutoShape 21"/>
          <p:cNvSpPr/>
          <p:nvPr/>
        </p:nvSpPr>
        <p:spPr>
          <a:xfrm>
            <a:off x="1397000" y="4216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05 融合排序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52500" y="4635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对检索结果进行清洗、处理和排序，确定关键结论（如表现最好的区域）。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492500" y="4064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83000" y="4254500"/>
            <a:ext cx="355600" cy="355600"/>
          </a:xfrm>
          <a:prstGeom prst="rect">
            <a:avLst/>
          </a:prstGeom>
        </p:spPr>
      </p:pic>
      <p:sp>
        <p:nvSpPr>
          <p:cNvPr id="25" name="AutoShape 25"/>
          <p:cNvSpPr/>
          <p:nvPr/>
        </p:nvSpPr>
        <p:spPr>
          <a:xfrm>
            <a:off x="4127500" y="4216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06 答案生成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683000" y="4635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大语言模型基于结构化数据，生成自然语言风格的分析报告和结论。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223000" y="4064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28" name="Picture 28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13500" y="4254500"/>
            <a:ext cx="355600" cy="355600"/>
          </a:xfrm>
          <a:prstGeom prst="rect">
            <a:avLst/>
          </a:prstGeom>
        </p:spPr>
      </p:pic>
      <p:sp>
        <p:nvSpPr>
          <p:cNvPr id="29" name="AutoShape 29"/>
          <p:cNvSpPr/>
          <p:nvPr/>
        </p:nvSpPr>
        <p:spPr>
          <a:xfrm>
            <a:off x="6858000" y="4216400"/>
            <a:ext cx="17145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07 结果反馈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6413500" y="4635500"/>
            <a:ext cx="20955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将最终的分析结果以清晰、直观的自然语言形式返回给用户。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8953500" y="4064000"/>
            <a:ext cx="2476500" cy="2159000"/>
          </a:xfrm>
          <a:prstGeom prst="roundRect">
            <a:avLst>
              <a:gd name="adj" fmla="val 5882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32" name="Picture 32"/>
          <p:cNvPicPr>
            <a:picLocks noChangeAspect="1"/>
          </p:cNvPicPr>
          <p:nvPr/>
        </p:nvPicPr>
        <p:blipFill>
          <a:blip r:embed="rId15"/>
          <a:srcRect t="7142" b="7142"/>
          <a:stretch>
            <a:fillRect/>
          </a:stretch>
        </p:blipFill>
        <p:spPr>
          <a:xfrm>
            <a:off x="9080500" y="4191000"/>
            <a:ext cx="2222500" cy="1905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关键步骤解析：意图识别与路由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14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460500" y="1676400"/>
            <a:ext cx="425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01 意图识别 (Intent Recognition)</a:t>
            </a:r>
            <a:endParaRPr lang="en-US" sz="1100"/>
          </a:p>
        </p:txBody>
      </p:sp>
      <p:cxnSp>
        <p:nvCxnSpPr>
          <p:cNvPr id="6" name="Connector 6"/>
          <p:cNvCxnSpPr/>
          <p:nvPr/>
        </p:nvCxnSpPr>
        <p:spPr>
          <a:xfrm rot="-9291">
            <a:off x="1016009" y="2089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0B0B0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1016000" y="2222500"/>
            <a:ext cx="4699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用户输入：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“老师，请问辛亥革命爆发的具体时间和历史背景是什么？”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系统解析：</a:t>
            </a:r>
            <a:r>
              <a:rPr lang="en-US" sz="1400" b="0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意图=知识问答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| 关键信息={事件:辛亥革命, 需求:具体时间, 历史背景}</a:t>
            </a:r>
            <a:endParaRPr lang="en-US" sz="1400" b="0" i="0" u="none" strike="noStrike">
              <a:solidFill>
                <a:srgbClr val="DCDCDC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762000" y="41275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4318000"/>
            <a:ext cx="355600" cy="3556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1460500" y="4279900"/>
            <a:ext cx="42545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02 智能路由 (Smart Routing)</a:t>
            </a:r>
            <a:endParaRPr lang="en-US" sz="1100"/>
          </a:p>
        </p:txBody>
      </p:sp>
      <p:cxnSp>
        <p:nvCxnSpPr>
          <p:cNvPr id="11" name="Connector 11"/>
          <p:cNvCxnSpPr/>
          <p:nvPr/>
        </p:nvCxnSpPr>
        <p:spPr>
          <a:xfrm rot="-9291">
            <a:off x="1016009" y="4692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B0B0B0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AutoShape 12"/>
          <p:cNvSpPr/>
          <p:nvPr/>
        </p:nvSpPr>
        <p:spPr>
          <a:xfrm>
            <a:off x="1016000" y="4826000"/>
            <a:ext cx="4699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路由逻辑：</a:t>
            </a:r>
            <a:r>
              <a:rPr lang="en-US" sz="1400" b="0" i="0" u="none" strike="noStrike">
                <a:solidFill>
                  <a:srgbClr val="DCDCDC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触发历史知识库检索引擎，自动生成检索指令。</a:t>
            </a:r>
            <a:endParaRPr lang="en-US" sz="1100"/>
          </a:p>
          <a:p>
            <a:pPr indent="0" algn="l">
              <a:lnSpc>
                <a:spcPct val="125000"/>
              </a:lnSpc>
            </a:pPr>
            <a:r>
              <a:rPr lang="en-US" sz="1400" b="1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生成指令：</a:t>
            </a:r>
            <a:r>
              <a:rPr lang="en-US" sz="1200" b="0" i="0" u="none" strike="noStrike">
                <a:solidFill>
                  <a:srgbClr val="00FFFF"/>
                </a:solidFill>
                <a:highlight>
                  <a:srgbClr val="00FFFF">
                    <a:alpha val="0"/>
                  </a:srgbClr>
                </a:highlight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系统自动将问题拆解为对‘辛亥革命’事件的时间和背景信息的检索请求，并从历史知识库中查找相关条目。</a:t>
            </a:r>
            <a:endParaRPr lang="en-US" sz="1200" b="0" i="0" u="none" strike="noStrike">
              <a:solidFill>
                <a:srgbClr val="00FFFF"/>
              </a:solidFill>
              <a:highlight>
                <a:srgbClr val="00FFFF">
                  <a:alpha val="0"/>
                </a:srgbClr>
              </a:highlight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5"/>
          <a:srcRect l="13930" r="13930"/>
          <a:stretch>
            <a:fillRect/>
          </a:stretch>
        </p:blipFill>
        <p:spPr>
          <a:xfrm>
            <a:off x="6223000" y="1524000"/>
            <a:ext cx="5207000" cy="5016500"/>
          </a:xfrm>
          <a:prstGeom prst="roundRect">
            <a:avLst>
              <a:gd name="adj" fmla="val 2531"/>
            </a:avLst>
          </a:prstGeom>
          <a:noFill/>
          <a:ln w="12700" cap="flat" cmpd="sng">
            <a:solidFill>
              <a:srgbClr val="00FFFF">
                <a:alpha val="50000"/>
              </a:srgbClr>
            </a:solidFill>
            <a:prstDash val="solid"/>
            <a:round/>
          </a:ln>
          <a:effectLst>
            <a:outerShdw blurRad="254000" dist="127000" dir="2700000" algn="t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核心应用场景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rcRect t="10855" b="10855"/>
          <a:stretch>
            <a:fillRect/>
          </a:stretch>
        </p:blipFill>
        <p:spPr>
          <a:xfrm>
            <a:off x="1016000" y="1778000"/>
            <a:ext cx="1651000" cy="1905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5" name="AutoShape 5"/>
          <p:cNvSpPr/>
          <p:nvPr/>
        </p:nvSpPr>
        <p:spPr>
          <a:xfrm>
            <a:off x="2857500" y="1778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智能客服与知识问答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2857500" y="22225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7x24小时自动回答常见问题，解放人力，显著提升服务效率和标准化程度。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6223000" y="15240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 t="11717" b="11717"/>
          <a:stretch>
            <a:fillRect/>
          </a:stretch>
        </p:blipFill>
        <p:spPr>
          <a:xfrm>
            <a:off x="6477000" y="1778000"/>
            <a:ext cx="1651000" cy="1905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9" name="AutoShape 9"/>
          <p:cNvSpPr/>
          <p:nvPr/>
        </p:nvSpPr>
        <p:spPr>
          <a:xfrm>
            <a:off x="8318500" y="1778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企业智能决策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8318500" y="22225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辅助管理层从海量数据中获取洞察，将数据转化为决策依据，支持科学战略决策。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1910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3"/>
          <a:srcRect l="25646" r="25646"/>
          <a:stretch>
            <a:fillRect/>
          </a:stretch>
        </p:blipFill>
        <p:spPr>
          <a:xfrm>
            <a:off x="1016000" y="4445000"/>
            <a:ext cx="1651000" cy="1905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3" name="AutoShape 13"/>
          <p:cNvSpPr/>
          <p:nvPr/>
        </p:nvSpPr>
        <p:spPr>
          <a:xfrm>
            <a:off x="2857500" y="4445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研发与技术支持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857500" y="48895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快速检索技术文档与代码示例，提供故障排除指南，加速工程师解决问题的速度。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6223000" y="4191000"/>
            <a:ext cx="5207000" cy="2413000"/>
          </a:xfrm>
          <a:prstGeom prst="roundRect">
            <a:avLst>
              <a:gd name="adj" fmla="val 5263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4"/>
          <a:srcRect l="6666" r="6666"/>
          <a:stretch>
            <a:fillRect/>
          </a:stretch>
        </p:blipFill>
        <p:spPr>
          <a:xfrm>
            <a:off x="6477000" y="4445000"/>
            <a:ext cx="1651000" cy="1905000"/>
          </a:xfrm>
          <a:prstGeom prst="roundRect">
            <a:avLst>
              <a:gd name="adj" fmla="val 7692"/>
            </a:avLst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17" name="AutoShape 17"/>
          <p:cNvSpPr/>
          <p:nvPr/>
        </p:nvSpPr>
        <p:spPr>
          <a:xfrm>
            <a:off x="8318500" y="4445000"/>
            <a:ext cx="292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个性化推荐与营销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8318500" y="4889500"/>
            <a:ext cx="2921000" cy="1397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深度理解用户偏好，提供精准的产品与内容推荐，实现“千人千面”的营销体验。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为企业带来的核心价值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6800" y="1828800"/>
            <a:ext cx="406400" cy="4064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574800" y="18034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效率提升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66800" y="2260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响应时间缩短</a:t>
            </a:r>
            <a:r>
              <a:rPr lang="en-US" sz="24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80%</a:t>
            </a: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，检索效率提升</a:t>
            </a:r>
            <a:r>
              <a:rPr lang="en-US" sz="24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5倍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066800" y="2730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员工从重复查找中解放，聚焦于高价值创造性工作，全面提升人效。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6223000" y="152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27800" y="1828800"/>
            <a:ext cx="406400" cy="406400"/>
          </a:xfrm>
          <a:prstGeom prst="rect">
            <a:avLst/>
          </a:prstGeom>
        </p:spPr>
      </p:pic>
      <p:sp>
        <p:nvSpPr>
          <p:cNvPr id="10" name="AutoShape 10"/>
          <p:cNvSpPr/>
          <p:nvPr/>
        </p:nvSpPr>
        <p:spPr>
          <a:xfrm>
            <a:off x="7035800" y="18034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成本降低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527800" y="2260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预计节约人力成本</a:t>
            </a:r>
            <a:r>
              <a:rPr lang="en-US" sz="24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30%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6527800" y="2730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减少对人工客服和初级分析师的依赖，自动化流程大幅降低运营成本。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762000" y="406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4" name="Picture 1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6800" y="4368800"/>
            <a:ext cx="406400" cy="406400"/>
          </a:xfrm>
          <a:prstGeom prst="rect">
            <a:avLst/>
          </a:prstGeom>
        </p:spPr>
      </p:pic>
      <p:sp>
        <p:nvSpPr>
          <p:cNvPr id="15" name="AutoShape 15"/>
          <p:cNvSpPr/>
          <p:nvPr/>
        </p:nvSpPr>
        <p:spPr>
          <a:xfrm>
            <a:off x="1574800" y="43434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决策质量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1066800" y="4800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决策失误率降低</a:t>
            </a:r>
            <a:r>
              <a:rPr lang="en-US" sz="24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40%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1066800" y="5270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基于全面、准确、实时的信息洞察，辅助管理层做出更明智的战略决策。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23000" y="4064000"/>
            <a:ext cx="5207000" cy="2286000"/>
          </a:xfrm>
          <a:prstGeom prst="roundRect">
            <a:avLst>
              <a:gd name="adj" fmla="val 5555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00FFFF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27800" y="4368800"/>
            <a:ext cx="406400" cy="406400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7035800" y="4343400"/>
            <a:ext cx="4064000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用户体验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527800" y="4800600"/>
            <a:ext cx="4572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用户满意度提升</a:t>
            </a:r>
            <a:r>
              <a:rPr lang="en-US" sz="24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25%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6527800" y="5270500"/>
            <a:ext cx="457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提供智能、个性化的自然交互服务，显著提升客户与内部员工的满意度。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项目总结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524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6000" y="1714500"/>
            <a:ext cx="304800" cy="3048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460500" y="1676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核心优势：新一代检索决策系统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16000" y="20955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构建以“意图理解”为核心、“智能路由”为大脑的系统，具备精准理解、灵活编排与多策略融合能力。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31115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16000" y="3302000"/>
            <a:ext cx="304800" cy="3048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460500" y="32639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关键成就：核心场景试点验证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016000" y="36830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在智能客服与企业决策场景成功试点，实现显著效率提升与成本节约，验证了技术可行性与商业价值。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4699000"/>
            <a:ext cx="5080000" cy="1397000"/>
          </a:xfrm>
          <a:prstGeom prst="roundRect">
            <a:avLst>
              <a:gd name="adj" fmla="val 9090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" y="48895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460500" y="4851400"/>
            <a:ext cx="4191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团队贡献：持续创新与工程落地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016000" y="5270500"/>
            <a:ext cx="4572000" cy="698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3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技术团队在算法模型、系统架构及工程实现上持续突破，以不懈努力保障了项目的高质量交付。</a:t>
            </a:r>
            <a:endParaRPr lang="en-US" sz="1100"/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7"/>
          <a:srcRect l="17187" r="17187"/>
          <a:stretch>
            <a:fillRect/>
          </a:stretch>
        </p:blipFill>
        <p:spPr>
          <a:xfrm>
            <a:off x="6096000" y="1524000"/>
            <a:ext cx="5334000" cy="4572000"/>
          </a:xfrm>
          <a:prstGeom prst="roundRect">
            <a:avLst>
              <a:gd name="adj" fmla="val 2777"/>
            </a:avLst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C1C1E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62000" y="508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00FFFF"/>
                </a:solidFill>
                <a:latin typeface="A new day begins" panose="02000503000000000000" charset="0"/>
                <a:ea typeface="A new day begins" panose="02000503000000000000" charset="0"/>
                <a:cs typeface="A new day begins" panose="02000503000000000000" charset="0"/>
                <a:sym typeface="A new day begins" panose="02000503000000000000" charset="0"/>
              </a:rPr>
              <a:t>未来展望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62000" y="1397000"/>
            <a:ext cx="5334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2500" y="1587500"/>
            <a:ext cx="355600" cy="355600"/>
          </a:xfrm>
          <a:prstGeom prst="rect">
            <a:avLst/>
          </a:prstGeom>
        </p:spPr>
      </p:pic>
      <p:sp>
        <p:nvSpPr>
          <p:cNvPr id="5" name="AutoShape 5"/>
          <p:cNvSpPr/>
          <p:nvPr/>
        </p:nvSpPr>
        <p:spPr>
          <a:xfrm>
            <a:off x="1397000" y="15494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多模态理解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397000" y="1905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处理图像、语音、视频等多种输入，实现更自然、全面的人机交互。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62000" y="2667000"/>
            <a:ext cx="5334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52500" y="2857500"/>
            <a:ext cx="355600" cy="355600"/>
          </a:xfrm>
          <a:prstGeom prst="rect">
            <a:avLst/>
          </a:prstGeom>
        </p:spPr>
      </p:pic>
      <p:sp>
        <p:nvSpPr>
          <p:cNvPr id="9" name="AutoShape 9"/>
          <p:cNvSpPr/>
          <p:nvPr/>
        </p:nvSpPr>
        <p:spPr>
          <a:xfrm>
            <a:off x="1397000" y="28194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强化学习优化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1397000" y="3175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基于反馈动态优化检索策略，实现系统的持续自我进化与工作流升级。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762000" y="3937000"/>
            <a:ext cx="5334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500" y="4127500"/>
            <a:ext cx="355600" cy="3556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1397000" y="40894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行业大模型结合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1397000" y="4445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融合金融、医疗等垂直领域大模型，提供深度专业化的智能服务。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762000" y="5207000"/>
            <a:ext cx="5334000" cy="1143000"/>
          </a:xfrm>
          <a:prstGeom prst="roundRect">
            <a:avLst>
              <a:gd name="adj" fmla="val 11111"/>
            </a:avLst>
          </a:prstGeom>
          <a:solidFill>
            <a:srgbClr val="FFFFFF">
              <a:alpha val="5000"/>
            </a:srgbClr>
          </a:solidFill>
          <a:ln cap="flat" cmpd="sng">
            <a:solidFill>
              <a:srgbClr val="E6CFCF">
                <a:alpha val="5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52500" y="5397500"/>
            <a:ext cx="355600" cy="355600"/>
          </a:xfrm>
          <a:prstGeom prst="rect">
            <a:avLst/>
          </a:prstGeom>
        </p:spPr>
      </p:pic>
      <p:sp>
        <p:nvSpPr>
          <p:cNvPr id="17" name="AutoShape 17"/>
          <p:cNvSpPr/>
          <p:nvPr/>
        </p:nvSpPr>
        <p:spPr>
          <a:xfrm>
            <a:off x="1397000" y="5359400"/>
            <a:ext cx="4572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联邦学习与隐私保护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1397000" y="5715000"/>
            <a:ext cx="457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B0B0B0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在保护隐私前提下，探索跨组织、跨领域的知识共享与协同智能。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9"/>
          <a:srcRect l="21153" r="21153"/>
          <a:stretch>
            <a:fillRect/>
          </a:stretch>
        </p:blipFill>
        <p:spPr>
          <a:xfrm>
            <a:off x="6350000" y="1397000"/>
            <a:ext cx="5080000" cy="4953000"/>
          </a:xfrm>
          <a:prstGeom prst="roundRect">
            <a:avLst>
              <a:gd name="adj" fmla="val 2564"/>
            </a:avLst>
          </a:prstGeom>
          <a:noFill/>
          <a:ln w="25400" cap="flat" cmpd="sng">
            <a:noFill/>
            <a:prstDash val="solid"/>
            <a:rou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</p:pic>
      <p:sp>
        <p:nvSpPr>
          <p:cNvPr id="4" name="AutoShape 4"/>
          <p:cNvSpPr/>
          <p:nvPr/>
        </p:nvSpPr>
        <p:spPr>
          <a:xfrm>
            <a:off x="1016000" y="2286000"/>
            <a:ext cx="10160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>
                <a:solidFill>
                  <a:srgbClr val="00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THANK YOU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34376">
            <a:off x="5461032" y="3422650"/>
            <a:ext cx="127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ap="flat" cmpd="sng">
            <a:solidFill>
              <a:srgbClr val="00FFFF">
                <a:alpha val="100000"/>
              </a:srgbClr>
            </a:solidFill>
            <a:prstDash val="solid"/>
            <a:round/>
            <a:headEnd type="none" w="lg" len="lg"/>
            <a:tailEnd type="none" w="lg" len="lg"/>
          </a:ln>
        </p:spPr>
      </p:cxnSp>
      <p:sp>
        <p:nvSpPr>
          <p:cNvPr id="6" name="AutoShape 6"/>
          <p:cNvSpPr/>
          <p:nvPr/>
        </p:nvSpPr>
        <p:spPr>
          <a:xfrm>
            <a:off x="1016000" y="3683000"/>
            <a:ext cx="10160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000" b="0" i="0" u="none" strike="noStrike">
                <a:solidFill>
                  <a:srgbClr val="FFFFFF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Q&amp;A / 交流互动</a:t>
            </a:r>
            <a:endParaRPr lang="en-US" sz="1100"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03813" y="4216400"/>
            <a:ext cx="254000" cy="2540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5245573" y="42164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0" i="0" u="none" strike="noStrike">
                <a:solidFill>
                  <a:srgbClr val="FF0000">
                    <a:alpha val="80000"/>
                  </a:srgbClr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  <a:hlinkClick r:id="rId5" tooltip="https://github.com/XXYoLoong" action="ppaction://hlinkfile">
                  <a:extLst>
                    <a:ext uri="{DAF060AB-1E55-43B9-8AAB-6FB025537F2F}">
                      <wpsdc:hlinkClr xmlns:wpsdc="http://www.wps.cn/officeDocument/2017/drawingmlCustomData" val="FFFFFF"/>
                      <wpsdc:folHlinkClr xmlns:wpsdc="http://www.wps.cn/officeDocument/2017/drawingmlCustomData" val="FF0000"/>
                      <wpsdc:hlinkUnderline xmlns:wpsdc="http://www.wps.cn/officeDocument/2017/drawingmlCustomData" val="1"/>
                    </a:ext>
                  </a:extLst>
                </a:hlinkClick>
              </a:rPr>
              <a:t>Github/XXYoLoong</a:t>
            </a:r>
            <a:endParaRPr lang="en-US" sz="1600" b="0" i="0" u="none" strike="noStrike">
              <a:solidFill>
                <a:srgbClr val="FF0000">
                  <a:alpha val="80000"/>
                </a:srgbClr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  <a:hlinkClick r:id="rId5" tooltip="https://github.com/XXYoLoong" action="ppaction://hlinkfile">
                <a:extLst>
                  <a:ext uri="{DAF060AB-1E55-43B9-8AAB-6FB025537F2F}">
                    <wpsdc:hlinkClr xmlns:wpsdc="http://www.wps.cn/officeDocument/2017/drawingmlCustomData" val="FFFFFF"/>
                    <wpsdc:folHlinkClr xmlns:wpsdc="http://www.wps.cn/officeDocument/2017/drawingmlCustomData" val="FF0000"/>
                    <wpsdc:hlinkUnderline xmlns:wpsdc="http://www.wps.cn/officeDocument/2017/drawingmlCustomData" val="1"/>
                  </a:ext>
                </a:extLst>
              </a:hlinkClick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2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3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4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5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6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7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8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ags/tag9.xml><?xml version="1.0" encoding="utf-8"?>
<p:tagLst xmlns:p="http://schemas.openxmlformats.org/presentationml/2006/main">
  <p:tag name="KSO_WM_DIAGRAM_VIRTUALLY_FRAME" val="{&quot;height&quot;:294,&quot;left&quot;:490,&quot;top&quot;:130,&quot;width&quot;:410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2528</Words>
  <Application>WPS 演示</Application>
  <PresentationFormat/>
  <Paragraphs>236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8" baseType="lpstr">
      <vt:lpstr>Arial</vt:lpstr>
      <vt:lpstr>宋体</vt:lpstr>
      <vt:lpstr>Wingdings</vt:lpstr>
      <vt:lpstr>Arial</vt:lpstr>
      <vt:lpstr>Noto Sans SC</vt:lpstr>
      <vt:lpstr>Poppins</vt:lpstr>
      <vt:lpstr>Segoe Print</vt:lpstr>
      <vt:lpstr>微软雅黑</vt:lpstr>
      <vt:lpstr>Arial Unicode MS</vt:lpstr>
      <vt:lpstr>Poppins</vt:lpstr>
      <vt:lpstr>A new day begins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小蓝</cp:lastModifiedBy>
  <cp:revision>1</cp:revision>
  <dcterms:created xsi:type="dcterms:W3CDTF">2026-02-06T07:02:40Z</dcterms:created>
  <dcterms:modified xsi:type="dcterms:W3CDTF">2026-02-06T07:02:40Z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DA5123B20D874448A8279E9E27BE6083_12</vt:lpwstr>
  </property>
</Properties>
</file>